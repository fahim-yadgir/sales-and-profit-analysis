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7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74F298A-BC9E-438B-439E-6376B65A531D}">
          <p14:sldIdLst>
            <p14:sldId id="256"/>
          </p14:sldIdLst>
        </p14:section>
        <p14:section name="Analysis" id="{8F626E0A-FA77-0CD0-BC4B-95D7F5BEC87A}">
          <p14:sldIdLst>
            <p14:sldId id="258"/>
            <p14:sldId id="257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Wrap-up" id="{62BEA33F-EE4C-950F-8BAF-62E9B2483F9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480060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Data Analysis Project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Data Analysis Project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Data Analysis Project Report</a:t>
            </a:r>
            <a:endParaRPr lang="en-US" sz="4000" dirty="0"/>
          </a:p>
        </p:txBody>
      </p:sp>
      <p:sp>
        <p:nvSpPr>
          <p:cNvPr id="3" name="g1_sub"/>
          <p:cNvSpPr txBox="1"/>
          <p:nvPr/>
        </p:nvSpPr>
        <p:spPr>
          <a:xfrm>
            <a:off x="640080" y="1691640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Asking questions from the data set</a:t>
            </a:r>
            <a:endParaRPr lang="en-US" sz="2000" dirty="0"/>
          </a:p>
        </p:txBody>
      </p:sp>
      <p:sp>
        <p:nvSpPr>
          <p:cNvPr id="4" name="g2_q0_bg"/>
          <p:cNvSpPr/>
          <p:nvPr/>
        </p:nvSpPr>
        <p:spPr>
          <a:xfrm>
            <a:off x="548640" y="242316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g2_q0_dot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/>
          <a:p>
            <a:endParaRPr lang="en-IN"/>
          </a:p>
        </p:txBody>
      </p:sp>
      <p:sp>
        <p:nvSpPr>
          <p:cNvPr id="6" name="g2_q0_n"/>
          <p:cNvSpPr txBox="1"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g2_q0_t"/>
          <p:cNvSpPr txBox="1"/>
          <p:nvPr/>
        </p:nvSpPr>
        <p:spPr>
          <a:xfrm>
            <a:off x="1371600" y="2514600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Which product categories generate the highest sales and profit?</a:t>
            </a:r>
            <a:endParaRPr lang="en-US" sz="1600" dirty="0"/>
          </a:p>
        </p:txBody>
      </p:sp>
      <p:sp>
        <p:nvSpPr>
          <p:cNvPr id="8" name="g3_q1_bg"/>
          <p:cNvSpPr/>
          <p:nvPr/>
        </p:nvSpPr>
        <p:spPr>
          <a:xfrm>
            <a:off x="4663440" y="242316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g3_q1_dot"/>
          <p:cNvSpPr/>
          <p:nvPr/>
        </p:nvSpPr>
        <p:spPr>
          <a:xfrm>
            <a:off x="4846320" y="2651760"/>
            <a:ext cx="457200" cy="457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/>
          <a:p>
            <a:endParaRPr lang="en-IN"/>
          </a:p>
        </p:txBody>
      </p:sp>
      <p:sp>
        <p:nvSpPr>
          <p:cNvPr id="10" name="g3_q1_n"/>
          <p:cNvSpPr txBox="1"/>
          <p:nvPr/>
        </p:nvSpPr>
        <p:spPr>
          <a:xfrm>
            <a:off x="4846320" y="2651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g3_q1_t"/>
          <p:cNvSpPr txBox="1"/>
          <p:nvPr/>
        </p:nvSpPr>
        <p:spPr>
          <a:xfrm>
            <a:off x="5486400" y="2514600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Which shipping modes are most profitable?</a:t>
            </a:r>
            <a:endParaRPr lang="en-US" sz="1600" dirty="0"/>
          </a:p>
        </p:txBody>
      </p:sp>
      <p:sp>
        <p:nvSpPr>
          <p:cNvPr id="12" name="g4_q2_bg"/>
          <p:cNvSpPr/>
          <p:nvPr/>
        </p:nvSpPr>
        <p:spPr>
          <a:xfrm>
            <a:off x="548640" y="352044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g4_q2_dot"/>
          <p:cNvSpPr/>
          <p:nvPr/>
        </p:nvSpPr>
        <p:spPr>
          <a:xfrm>
            <a:off x="731520" y="3749040"/>
            <a:ext cx="457200" cy="457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/>
          <a:p>
            <a:endParaRPr lang="en-IN"/>
          </a:p>
        </p:txBody>
      </p:sp>
      <p:sp>
        <p:nvSpPr>
          <p:cNvPr id="14" name="g4_q2_n"/>
          <p:cNvSpPr txBox="1"/>
          <p:nvPr/>
        </p:nvSpPr>
        <p:spPr>
          <a:xfrm>
            <a:off x="731520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g4_q2_t"/>
          <p:cNvSpPr txBox="1"/>
          <p:nvPr/>
        </p:nvSpPr>
        <p:spPr>
          <a:xfrm>
            <a:off x="1371600" y="3611880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Which states are the most profitable?</a:t>
            </a:r>
            <a:endParaRPr lang="en-US" sz="1600" dirty="0"/>
          </a:p>
        </p:txBody>
      </p:sp>
      <p:sp>
        <p:nvSpPr>
          <p:cNvPr id="16" name="g5_q3_bg"/>
          <p:cNvSpPr/>
          <p:nvPr/>
        </p:nvSpPr>
        <p:spPr>
          <a:xfrm>
            <a:off x="4663440" y="352044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g5_q3_dot"/>
          <p:cNvSpPr/>
          <p:nvPr/>
        </p:nvSpPr>
        <p:spPr>
          <a:xfrm>
            <a:off x="4846320" y="3749040"/>
            <a:ext cx="457200" cy="457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/>
          <a:p>
            <a:endParaRPr lang="en-IN"/>
          </a:p>
        </p:txBody>
      </p:sp>
      <p:sp>
        <p:nvSpPr>
          <p:cNvPr id="18" name="g5_q3_n"/>
          <p:cNvSpPr txBox="1"/>
          <p:nvPr/>
        </p:nvSpPr>
        <p:spPr>
          <a:xfrm>
            <a:off x="4846320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g5_q3_t"/>
          <p:cNvSpPr txBox="1"/>
          <p:nvPr/>
        </p:nvSpPr>
        <p:spPr>
          <a:xfrm>
            <a:off x="5486400" y="3611880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How does discount affect profit?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22" name="g1_sub">
            <a:extLst>
              <a:ext uri="{FF2B5EF4-FFF2-40B4-BE49-F238E27FC236}">
                <a16:creationId xmlns:a16="http://schemas.microsoft.com/office/drawing/2014/main" id="{503AD420-AEB5-6CB8-DA57-56287DBDE697}"/>
              </a:ext>
            </a:extLst>
          </p:cNvPr>
          <p:cNvSpPr txBox="1"/>
          <p:nvPr/>
        </p:nvSpPr>
        <p:spPr>
          <a:xfrm>
            <a:off x="640080" y="316523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</a:rPr>
              <a:t>Name : Fahim Shahenshah Yadgir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Sales vs profit by category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539496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g1_img" descr="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99503"/>
            <a:ext cx="5212080" cy="3207434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6080760" y="11430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g2_l"/>
          <p:cNvSpPr txBox="1"/>
          <p:nvPr/>
        </p:nvSpPr>
        <p:spPr>
          <a:xfrm>
            <a:off x="6263640" y="128016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sales</a:t>
            </a:r>
            <a:endParaRPr lang="en-US" sz="1400" dirty="0"/>
          </a:p>
        </p:txBody>
      </p:sp>
      <p:sp>
        <p:nvSpPr>
          <p:cNvPr id="7" name="g2_v"/>
          <p:cNvSpPr txBox="1"/>
          <p:nvPr/>
        </p:nvSpPr>
        <p:spPr>
          <a:xfrm>
            <a:off x="6263640" y="1581912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Furniture</a:t>
            </a:r>
            <a:endParaRPr lang="en-US" sz="2600" dirty="0"/>
          </a:p>
        </p:txBody>
      </p:sp>
      <p:sp>
        <p:nvSpPr>
          <p:cNvPr id="8" name="g2_d"/>
          <p:cNvSpPr txBox="1"/>
          <p:nvPr/>
        </p:nvSpPr>
        <p:spPr>
          <a:xfrm>
            <a:off x="6263640" y="2066163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$8,965.53 in sales, yet a $1,642.43 loss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g3_l"/>
          <p:cNvSpPr txBox="1"/>
          <p:nvPr/>
        </p:nvSpPr>
        <p:spPr>
          <a:xfrm>
            <a:off x="6263640" y="310896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profit</a:t>
            </a:r>
            <a:endParaRPr lang="en-US" sz="1400" dirty="0"/>
          </a:p>
        </p:txBody>
      </p:sp>
      <p:sp>
        <p:nvSpPr>
          <p:cNvPr id="11" name="g3_v"/>
          <p:cNvSpPr txBox="1"/>
          <p:nvPr/>
        </p:nvSpPr>
        <p:spPr>
          <a:xfrm>
            <a:off x="6263640" y="3410712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Technology</a:t>
            </a:r>
            <a:endParaRPr lang="en-US" sz="2600" dirty="0"/>
          </a:p>
        </p:txBody>
      </p:sp>
      <p:sp>
        <p:nvSpPr>
          <p:cNvPr id="12" name="g3_d"/>
          <p:cNvSpPr txBox="1"/>
          <p:nvPr/>
        </p:nvSpPr>
        <p:spPr>
          <a:xfrm>
            <a:off x="6263640" y="390448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$310.33 profit on $3,220.17 sales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Profit by category</a:t>
            </a:r>
            <a:endParaRPr lang="en-US" sz="3400" dirty="0"/>
          </a:p>
        </p:txBody>
      </p:sp>
      <p:sp>
        <p:nvSpPr>
          <p:cNvPr id="3" name="g1_bg"/>
          <p:cNvSpPr/>
          <p:nvPr/>
        </p:nvSpPr>
        <p:spPr>
          <a:xfrm>
            <a:off x="45720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g1_head"/>
          <p:cNvSpPr txBox="1"/>
          <p:nvPr/>
        </p:nvSpPr>
        <p:spPr>
          <a:xfrm>
            <a:off x="640080" y="1280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1. Furniture</a:t>
            </a:r>
            <a:endParaRPr lang="en-US" sz="2000" dirty="0"/>
          </a:p>
        </p:txBody>
      </p:sp>
      <p:sp>
        <p:nvSpPr>
          <p:cNvPr id="5" name="g1_sl"/>
          <p:cNvSpPr txBox="1"/>
          <p:nvPr/>
        </p:nvSpPr>
        <p:spPr>
          <a:xfrm>
            <a:off x="640080" y="173736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</a:t>
            </a:r>
            <a:endParaRPr lang="en-US" sz="1400" dirty="0"/>
          </a:p>
        </p:txBody>
      </p:sp>
      <p:sp>
        <p:nvSpPr>
          <p:cNvPr id="6" name="g1_sv"/>
          <p:cNvSpPr txBox="1"/>
          <p:nvPr/>
        </p:nvSpPr>
        <p:spPr>
          <a:xfrm>
            <a:off x="1463040" y="1737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$8,965.53</a:t>
            </a:r>
            <a:endParaRPr lang="en-US" sz="2000" dirty="0"/>
          </a:p>
        </p:txBody>
      </p:sp>
      <p:sp>
        <p:nvSpPr>
          <p:cNvPr id="7" name="g1_pl"/>
          <p:cNvSpPr txBox="1"/>
          <p:nvPr/>
        </p:nvSpPr>
        <p:spPr>
          <a:xfrm>
            <a:off x="640080" y="21488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</a:t>
            </a:r>
            <a:endParaRPr lang="en-US" sz="1400" dirty="0"/>
          </a:p>
        </p:txBody>
      </p:sp>
      <p:sp>
        <p:nvSpPr>
          <p:cNvPr id="8" name="g1_pv"/>
          <p:cNvSpPr txBox="1"/>
          <p:nvPr/>
        </p:nvSpPr>
        <p:spPr>
          <a:xfrm>
            <a:off x="1463040" y="21488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-$1,642.43</a:t>
            </a:r>
            <a:endParaRPr lang="en-US" sz="2000" dirty="0"/>
          </a:p>
        </p:txBody>
      </p:sp>
      <p:sp>
        <p:nvSpPr>
          <p:cNvPr id="9" name="g1_desc"/>
          <p:cNvSpPr txBox="1"/>
          <p:nvPr/>
        </p:nvSpPr>
        <p:spPr>
          <a:xfrm>
            <a:off x="640080" y="265176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sales, but some products are sold with high discounts, resulting in negative profit.</a:t>
            </a:r>
            <a:endParaRPr lang="en-US" sz="1400" dirty="0"/>
          </a:p>
        </p:txBody>
      </p:sp>
      <p:sp>
        <p:nvSpPr>
          <p:cNvPr id="10" name="g1_cbg"/>
          <p:cNvSpPr/>
          <p:nvPr/>
        </p:nvSpPr>
        <p:spPr>
          <a:xfrm>
            <a:off x="59436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g1_ctext"/>
          <p:cNvSpPr txBox="1"/>
          <p:nvPr/>
        </p:nvSpPr>
        <p:spPr>
          <a:xfrm>
            <a:off x="704088" y="3858768"/>
            <a:ext cx="217627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Strong sales but poor profitability.</a:t>
            </a:r>
            <a:endParaRPr lang="en-US" sz="1400" dirty="0"/>
          </a:p>
        </p:txBody>
      </p:sp>
      <p:sp>
        <p:nvSpPr>
          <p:cNvPr id="12" name="g2_bg"/>
          <p:cNvSpPr/>
          <p:nvPr/>
        </p:nvSpPr>
        <p:spPr>
          <a:xfrm>
            <a:off x="329184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g2_head"/>
          <p:cNvSpPr txBox="1"/>
          <p:nvPr/>
        </p:nvSpPr>
        <p:spPr>
          <a:xfrm>
            <a:off x="3474720" y="1280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2. Office Supplies</a:t>
            </a:r>
            <a:endParaRPr lang="en-US" sz="2000" dirty="0"/>
          </a:p>
        </p:txBody>
      </p:sp>
      <p:sp>
        <p:nvSpPr>
          <p:cNvPr id="14" name="g2_sl"/>
          <p:cNvSpPr txBox="1"/>
          <p:nvPr/>
        </p:nvSpPr>
        <p:spPr>
          <a:xfrm>
            <a:off x="3474720" y="173736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</a:t>
            </a:r>
            <a:endParaRPr lang="en-US" sz="1400" dirty="0"/>
          </a:p>
        </p:txBody>
      </p:sp>
      <p:sp>
        <p:nvSpPr>
          <p:cNvPr id="15" name="g2_sv"/>
          <p:cNvSpPr txBox="1"/>
          <p:nvPr/>
        </p:nvSpPr>
        <p:spPr>
          <a:xfrm>
            <a:off x="4297680" y="1737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$1,781.27</a:t>
            </a:r>
            <a:endParaRPr lang="en-US" sz="2000" dirty="0"/>
          </a:p>
        </p:txBody>
      </p:sp>
      <p:sp>
        <p:nvSpPr>
          <p:cNvPr id="16" name="g2_pl"/>
          <p:cNvSpPr txBox="1"/>
          <p:nvPr/>
        </p:nvSpPr>
        <p:spPr>
          <a:xfrm>
            <a:off x="3474720" y="21488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</a:t>
            </a:r>
            <a:endParaRPr lang="en-US" sz="1400" dirty="0"/>
          </a:p>
        </p:txBody>
      </p:sp>
      <p:sp>
        <p:nvSpPr>
          <p:cNvPr id="17" name="g2_pv"/>
          <p:cNvSpPr txBox="1"/>
          <p:nvPr/>
        </p:nvSpPr>
        <p:spPr>
          <a:xfrm>
            <a:off x="4297680" y="21488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$167.06</a:t>
            </a:r>
            <a:endParaRPr lang="en-US" sz="2000" dirty="0"/>
          </a:p>
        </p:txBody>
      </p:sp>
      <p:sp>
        <p:nvSpPr>
          <p:cNvPr id="18" name="g2_desc"/>
          <p:cNvSpPr txBox="1"/>
          <p:nvPr/>
        </p:nvSpPr>
        <p:spPr>
          <a:xfrm>
            <a:off x="3474720" y="265176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Profitable, but both sales and profit are lower than the other categories.</a:t>
            </a:r>
            <a:endParaRPr lang="en-US" sz="1400" dirty="0"/>
          </a:p>
        </p:txBody>
      </p:sp>
      <p:sp>
        <p:nvSpPr>
          <p:cNvPr id="19" name="g2_cbg"/>
          <p:cNvSpPr/>
          <p:nvPr/>
        </p:nvSpPr>
        <p:spPr>
          <a:xfrm>
            <a:off x="342900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7F5EC"/>
          </a:solidFill>
          <a:ln w="12700">
            <a:solidFill>
              <a:srgbClr val="E7F5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g2_ctext"/>
          <p:cNvSpPr txBox="1"/>
          <p:nvPr/>
        </p:nvSpPr>
        <p:spPr>
          <a:xfrm>
            <a:off x="3538728" y="3858768"/>
            <a:ext cx="217627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Provides a stable positive profit.</a:t>
            </a:r>
            <a:endParaRPr lang="en-US" sz="1400" dirty="0"/>
          </a:p>
        </p:txBody>
      </p:sp>
      <p:sp>
        <p:nvSpPr>
          <p:cNvPr id="21" name="g3_bg"/>
          <p:cNvSpPr/>
          <p:nvPr/>
        </p:nvSpPr>
        <p:spPr>
          <a:xfrm>
            <a:off x="612648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g3_head"/>
          <p:cNvSpPr txBox="1"/>
          <p:nvPr/>
        </p:nvSpPr>
        <p:spPr>
          <a:xfrm>
            <a:off x="6309360" y="1280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3. Technology</a:t>
            </a:r>
            <a:endParaRPr lang="en-US" sz="2000" dirty="0"/>
          </a:p>
        </p:txBody>
      </p:sp>
      <p:sp>
        <p:nvSpPr>
          <p:cNvPr id="23" name="g3_sl"/>
          <p:cNvSpPr txBox="1"/>
          <p:nvPr/>
        </p:nvSpPr>
        <p:spPr>
          <a:xfrm>
            <a:off x="6309360" y="173736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</a:t>
            </a:r>
            <a:endParaRPr lang="en-US" sz="1400" dirty="0"/>
          </a:p>
        </p:txBody>
      </p:sp>
      <p:sp>
        <p:nvSpPr>
          <p:cNvPr id="24" name="g3_sv"/>
          <p:cNvSpPr txBox="1"/>
          <p:nvPr/>
        </p:nvSpPr>
        <p:spPr>
          <a:xfrm>
            <a:off x="7132320" y="1737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$3,220.17</a:t>
            </a:r>
            <a:endParaRPr lang="en-US" sz="2000" dirty="0"/>
          </a:p>
        </p:txBody>
      </p:sp>
      <p:sp>
        <p:nvSpPr>
          <p:cNvPr id="25" name="g3_pl"/>
          <p:cNvSpPr txBox="1"/>
          <p:nvPr/>
        </p:nvSpPr>
        <p:spPr>
          <a:xfrm>
            <a:off x="6309360" y="21488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</a:t>
            </a:r>
            <a:endParaRPr lang="en-US" sz="1400" dirty="0"/>
          </a:p>
        </p:txBody>
      </p:sp>
      <p:sp>
        <p:nvSpPr>
          <p:cNvPr id="26" name="g3_pv"/>
          <p:cNvSpPr txBox="1"/>
          <p:nvPr/>
        </p:nvSpPr>
        <p:spPr>
          <a:xfrm>
            <a:off x="7132320" y="21488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$310.33</a:t>
            </a:r>
            <a:endParaRPr lang="en-US" sz="2000" dirty="0"/>
          </a:p>
        </p:txBody>
      </p:sp>
      <p:sp>
        <p:nvSpPr>
          <p:cNvPr id="27" name="g3_desc"/>
          <p:cNvSpPr txBox="1"/>
          <p:nvPr/>
        </p:nvSpPr>
        <p:spPr>
          <a:xfrm>
            <a:off x="6309360" y="265176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 are much lower than Furniture, but it converts sales into profit more effectively.</a:t>
            </a:r>
            <a:endParaRPr lang="en-US" sz="1400" dirty="0"/>
          </a:p>
        </p:txBody>
      </p:sp>
      <p:sp>
        <p:nvSpPr>
          <p:cNvPr id="28" name="g3_cbg"/>
          <p:cNvSpPr/>
          <p:nvPr/>
        </p:nvSpPr>
        <p:spPr>
          <a:xfrm>
            <a:off x="626364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7F5EC"/>
          </a:solidFill>
          <a:ln w="12700">
            <a:solidFill>
              <a:srgbClr val="E7F5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g3_ctext"/>
          <p:cNvSpPr txBox="1"/>
          <p:nvPr/>
        </p:nvSpPr>
        <p:spPr>
          <a:xfrm>
            <a:off x="6373368" y="3858768"/>
            <a:ext cx="217627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most profitable category.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Profit by ship mode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539496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g1_img" descr="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5390"/>
            <a:ext cx="5212080" cy="3235659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6080760" y="11430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g2_l"/>
          <p:cNvSpPr txBox="1"/>
          <p:nvPr/>
        </p:nvSpPr>
        <p:spPr>
          <a:xfrm>
            <a:off x="6263640" y="128016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Only profitable mode</a:t>
            </a:r>
            <a:endParaRPr lang="en-US" sz="1400" dirty="0"/>
          </a:p>
        </p:txBody>
      </p:sp>
      <p:sp>
        <p:nvSpPr>
          <p:cNvPr id="7" name="g2_v"/>
          <p:cNvSpPr txBox="1"/>
          <p:nvPr/>
        </p:nvSpPr>
        <p:spPr>
          <a:xfrm>
            <a:off x="6263640" y="1581912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Second Class</a:t>
            </a:r>
            <a:endParaRPr lang="en-US" sz="2400" dirty="0"/>
          </a:p>
        </p:txBody>
      </p:sp>
      <p:sp>
        <p:nvSpPr>
          <p:cNvPr id="8" name="g2_d"/>
          <p:cNvSpPr txBox="1"/>
          <p:nvPr/>
        </p:nvSpPr>
        <p:spPr>
          <a:xfrm>
            <a:off x="6263640" y="207568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$329.16 profit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g3_l"/>
          <p:cNvSpPr txBox="1"/>
          <p:nvPr/>
        </p:nvSpPr>
        <p:spPr>
          <a:xfrm>
            <a:off x="6263640" y="310896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Biggest loss</a:t>
            </a:r>
            <a:endParaRPr lang="en-US" sz="1400" dirty="0"/>
          </a:p>
        </p:txBody>
      </p:sp>
      <p:sp>
        <p:nvSpPr>
          <p:cNvPr id="11" name="g3_v"/>
          <p:cNvSpPr txBox="1"/>
          <p:nvPr/>
        </p:nvSpPr>
        <p:spPr>
          <a:xfrm>
            <a:off x="6263640" y="3410712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Standard Class</a:t>
            </a:r>
            <a:endParaRPr lang="en-US" sz="2400" dirty="0"/>
          </a:p>
        </p:txBody>
      </p:sp>
      <p:sp>
        <p:nvSpPr>
          <p:cNvPr id="12" name="g3_d"/>
          <p:cNvSpPr txBox="1"/>
          <p:nvPr/>
        </p:nvSpPr>
        <p:spPr>
          <a:xfrm>
            <a:off x="6263640" y="390448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−$1,469.70 loss; First Class loses $24.49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Ship mode chart</a:t>
            </a:r>
            <a:endParaRPr lang="en-US" sz="3400" dirty="0"/>
          </a:p>
        </p:txBody>
      </p:sp>
      <p:graphicFrame>
        <p:nvGraphicFramePr>
          <p:cNvPr id="7" name="g1_table"/>
          <p:cNvGraphicFramePr>
            <a:graphicFrameLocks noGrp="1"/>
          </p:cNvGraphicFramePr>
          <p:nvPr/>
        </p:nvGraphicFramePr>
        <p:xfrm>
          <a:off x="457200" y="1143000"/>
          <a:ext cx="8229600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Ship mode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Profit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Result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Second Class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$329.16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Profitable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Standard Class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−$1,469.70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First Class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−$24.49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Total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−$1,165.04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Net 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5720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g2_v"/>
          <p:cNvSpPr txBox="1"/>
          <p:nvPr/>
        </p:nvSpPr>
        <p:spPr>
          <a:xfrm>
            <a:off x="640080" y="33101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−$1,165.04</a:t>
            </a:r>
            <a:endParaRPr lang="en-US" sz="2600" dirty="0"/>
          </a:p>
        </p:txBody>
      </p:sp>
      <p:sp>
        <p:nvSpPr>
          <p:cNvPr id="6" name="g2_d"/>
          <p:cNvSpPr txBox="1"/>
          <p:nvPr/>
        </p:nvSpPr>
        <p:spPr>
          <a:xfrm>
            <a:off x="640080" y="38404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Net profit across all ship modes, the same total as the category chart.</a:t>
            </a:r>
            <a:endParaRPr lang="en-US" sz="1400" dirty="0"/>
          </a:p>
        </p:txBody>
      </p:sp>
      <p:sp>
        <p:nvSpPr>
          <p:cNvPr id="3" name="g3_bg"/>
          <p:cNvSpPr/>
          <p:nvPr/>
        </p:nvSpPr>
        <p:spPr>
          <a:xfrm>
            <a:off x="329184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g3_v"/>
          <p:cNvSpPr txBox="1"/>
          <p:nvPr/>
        </p:nvSpPr>
        <p:spPr>
          <a:xfrm>
            <a:off x="3474720" y="33101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4.5×</a:t>
            </a:r>
            <a:endParaRPr lang="en-US" sz="2600" dirty="0"/>
          </a:p>
        </p:txBody>
      </p:sp>
      <p:sp>
        <p:nvSpPr>
          <p:cNvPr id="9" name="g3_d"/>
          <p:cNvSpPr txBox="1"/>
          <p:nvPr/>
        </p:nvSpPr>
        <p:spPr>
          <a:xfrm>
            <a:off x="3474720" y="38404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Standard Class loses about 4.5 times what Second Class earns.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6126480" y="3200400"/>
            <a:ext cx="256032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g4_v"/>
          <p:cNvSpPr txBox="1"/>
          <p:nvPr/>
        </p:nvSpPr>
        <p:spPr>
          <a:xfrm>
            <a:off x="6309360" y="33101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$24.49</a:t>
            </a:r>
            <a:endParaRPr lang="en-US" sz="2600" dirty="0"/>
          </a:p>
        </p:txBody>
      </p:sp>
      <p:sp>
        <p:nvSpPr>
          <p:cNvPr id="12" name="g4_d"/>
          <p:cNvSpPr txBox="1"/>
          <p:nvPr/>
        </p:nvSpPr>
        <p:spPr>
          <a:xfrm>
            <a:off x="6309360" y="384048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First Class is close to break-even, with only a small loss.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Which states are most profitable?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4480560" cy="274320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g1_img" descr="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75468"/>
            <a:ext cx="4297680" cy="2678264"/>
          </a:xfrm>
          <a:prstGeom prst="rect">
            <a:avLst/>
          </a:prstGeom>
        </p:spPr>
      </p:pic>
      <p:sp>
        <p:nvSpPr>
          <p:cNvPr id="5" name="g2_hero"/>
          <p:cNvSpPr/>
          <p:nvPr/>
        </p:nvSpPr>
        <p:spPr>
          <a:xfrm>
            <a:off x="5166360" y="1143000"/>
            <a:ext cx="352044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g2_hl"/>
          <p:cNvSpPr txBox="1"/>
          <p:nvPr/>
        </p:nvSpPr>
        <p:spPr>
          <a:xfrm>
            <a:off x="5349240" y="12161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profit</a:t>
            </a:r>
            <a:endParaRPr lang="en-US" sz="1400" dirty="0"/>
          </a:p>
        </p:txBody>
      </p:sp>
      <p:sp>
        <p:nvSpPr>
          <p:cNvPr id="7" name="g2_hv"/>
          <p:cNvSpPr txBox="1"/>
          <p:nvPr/>
        </p:nvSpPr>
        <p:spPr>
          <a:xfrm>
            <a:off x="5349240" y="1490472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California</a:t>
            </a:r>
            <a:endParaRPr lang="en-US" sz="2800" dirty="0"/>
          </a:p>
        </p:txBody>
      </p:sp>
      <p:sp>
        <p:nvSpPr>
          <p:cNvPr id="8" name="g3_bg"/>
          <p:cNvSpPr/>
          <p:nvPr/>
        </p:nvSpPr>
        <p:spPr>
          <a:xfrm>
            <a:off x="5166360" y="2103120"/>
            <a:ext cx="3520440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g3_t"/>
          <p:cNvSpPr txBox="1"/>
          <p:nvPr/>
        </p:nvSpPr>
        <p:spPr>
          <a:xfrm>
            <a:off x="5349240" y="2148840"/>
            <a:ext cx="31546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Pennsylvania: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 red on the map, the largest loss (down to −$1,648.96).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5166360" y="3017520"/>
            <a:ext cx="3520440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g4_t"/>
          <p:cNvSpPr txBox="1"/>
          <p:nvPr/>
        </p:nvSpPr>
        <p:spPr>
          <a:xfrm>
            <a:off x="5349240" y="3063240"/>
            <a:ext cx="31546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states differ: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sales, discounts, product mix and order volume.</a:t>
            </a:r>
            <a:endParaRPr lang="en-US" sz="1400" dirty="0"/>
          </a:p>
        </p:txBody>
      </p:sp>
      <p:sp>
        <p:nvSpPr>
          <p:cNvPr id="12" name="g5_ban"/>
          <p:cNvSpPr/>
          <p:nvPr/>
        </p:nvSpPr>
        <p:spPr>
          <a:xfrm>
            <a:off x="457200" y="402336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g5_bt"/>
          <p:cNvSpPr txBox="1"/>
          <p:nvPr/>
        </p:nvSpPr>
        <p:spPr>
          <a:xfrm>
            <a:off x="731520" y="4050792"/>
            <a:ext cx="7680960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Darker green means higher profit. A few states contribute a large share, while others have low or negative profit.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Reading the state map</a:t>
            </a:r>
            <a:endParaRPr lang="en-US" sz="3400" dirty="0"/>
          </a:p>
        </p:txBody>
      </p:sp>
      <p:sp>
        <p:nvSpPr>
          <p:cNvPr id="3" name="g1_bg"/>
          <p:cNvSpPr/>
          <p:nvPr/>
        </p:nvSpPr>
        <p:spPr>
          <a:xfrm>
            <a:off x="457200" y="1143000"/>
            <a:ext cx="265176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g1_v"/>
          <p:cNvSpPr txBox="1"/>
          <p:nvPr/>
        </p:nvSpPr>
        <p:spPr>
          <a:xfrm>
            <a:off x="640080" y="12527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$349.51</a:t>
            </a:r>
            <a:endParaRPr lang="en-US" sz="2600" dirty="0"/>
          </a:p>
        </p:txBody>
      </p:sp>
      <p:sp>
        <p:nvSpPr>
          <p:cNvPr id="5" name="g1_d"/>
          <p:cNvSpPr txBox="1"/>
          <p:nvPr/>
        </p:nvSpPr>
        <p:spPr>
          <a:xfrm>
            <a:off x="640080" y="178308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of the color scale: the highest state profit shown.</a:t>
            </a:r>
            <a:endParaRPr lang="en-US" sz="1400" dirty="0"/>
          </a:p>
        </p:txBody>
      </p:sp>
      <p:sp>
        <p:nvSpPr>
          <p:cNvPr id="6" name="g2_bg"/>
          <p:cNvSpPr/>
          <p:nvPr/>
        </p:nvSpPr>
        <p:spPr>
          <a:xfrm>
            <a:off x="3291840" y="1143000"/>
            <a:ext cx="265176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g2_v"/>
          <p:cNvSpPr txBox="1"/>
          <p:nvPr/>
        </p:nvSpPr>
        <p:spPr>
          <a:xfrm>
            <a:off x="3474720" y="12527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−$1,648.96</a:t>
            </a:r>
            <a:endParaRPr lang="en-US" sz="2600" dirty="0"/>
          </a:p>
        </p:txBody>
      </p:sp>
      <p:sp>
        <p:nvSpPr>
          <p:cNvPr id="8" name="g2_d"/>
          <p:cNvSpPr txBox="1"/>
          <p:nvPr/>
        </p:nvSpPr>
        <p:spPr>
          <a:xfrm>
            <a:off x="3474720" y="178308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Bottom of the scale: Pennsylvania is shaded red.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126480" y="1143000"/>
            <a:ext cx="256032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g3_v"/>
          <p:cNvSpPr txBox="1"/>
          <p:nvPr/>
        </p:nvSpPr>
        <p:spPr>
          <a:xfrm>
            <a:off x="6309360" y="12527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10 states</a:t>
            </a:r>
            <a:endParaRPr lang="en-US" sz="2600" dirty="0"/>
          </a:p>
        </p:txBody>
      </p:sp>
      <p:sp>
        <p:nvSpPr>
          <p:cNvPr id="11" name="g3_d"/>
          <p:cNvSpPr txBox="1"/>
          <p:nvPr/>
        </p:nvSpPr>
        <p:spPr>
          <a:xfrm>
            <a:off x="6309360" y="1783080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are shaded: 9 in green (profit) and 1 in red (loss).</a:t>
            </a:r>
            <a:endParaRPr lang="en-US" sz="1400" dirty="0"/>
          </a:p>
        </p:txBody>
      </p:sp>
      <p:sp>
        <p:nvSpPr>
          <p:cNvPr id="12" name="g4_bg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g4_h"/>
          <p:cNvSpPr txBox="1"/>
          <p:nvPr/>
        </p:nvSpPr>
        <p:spPr>
          <a:xfrm>
            <a:off x="685800" y="280720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How to read the colors</a:t>
            </a:r>
            <a:endParaRPr lang="en-US" sz="1600" dirty="0"/>
          </a:p>
        </p:txBody>
      </p:sp>
      <p:pic>
        <p:nvPicPr>
          <p:cNvPr id="14" name="g4_bar" descr="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46120"/>
            <a:ext cx="3657600" cy="274320"/>
          </a:xfrm>
          <a:prstGeom prst="rect">
            <a:avLst/>
          </a:prstGeom>
        </p:spPr>
      </p:pic>
      <p:sp>
        <p:nvSpPr>
          <p:cNvPr id="15" name="g4_l1"/>
          <p:cNvSpPr txBox="1"/>
          <p:nvPr/>
        </p:nvSpPr>
        <p:spPr>
          <a:xfrm>
            <a:off x="685800" y="358444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−$1,648.96 (loss)</a:t>
            </a:r>
            <a:endParaRPr lang="en-US" sz="1200" dirty="0"/>
          </a:p>
        </p:txBody>
      </p:sp>
      <p:sp>
        <p:nvSpPr>
          <p:cNvPr id="16" name="g4_l2"/>
          <p:cNvSpPr txBox="1"/>
          <p:nvPr/>
        </p:nvSpPr>
        <p:spPr>
          <a:xfrm>
            <a:off x="2514600" y="358444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$349.51 (profit)</a:t>
            </a:r>
            <a:endParaRPr lang="en-US" sz="1200" dirty="0"/>
          </a:p>
        </p:txBody>
      </p:sp>
      <p:sp>
        <p:nvSpPr>
          <p:cNvPr id="17" name="g4_note"/>
          <p:cNvSpPr txBox="1"/>
          <p:nvPr/>
        </p:nvSpPr>
        <p:spPr>
          <a:xfrm>
            <a:off x="685800" y="397764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Darker green means higher profit. White is close to break-even.</a:t>
            </a:r>
            <a:endParaRPr lang="en-US" sz="1400" dirty="0"/>
          </a:p>
        </p:txBody>
      </p:sp>
      <p:sp>
        <p:nvSpPr>
          <p:cNvPr id="18" name="g4_tiers"/>
          <p:cNvSpPr txBox="1"/>
          <p:nvPr/>
        </p:nvSpPr>
        <p:spPr>
          <a:xfrm>
            <a:off x="4663440" y="2834640"/>
            <a:ext cx="384048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Dark green: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California, Utah, Kentucky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Medium green: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Washington, Wisconsin, Nebraska, North Carolina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Light green: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Texas, Florida (small profit)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Red: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Pennsylvania (loss)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How does discount affect profit?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475488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g1_img" descr="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6201"/>
            <a:ext cx="4572000" cy="2874039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5440680" y="1143000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g2_t"/>
          <p:cNvSpPr txBox="1"/>
          <p:nvPr/>
        </p:nvSpPr>
        <p:spPr>
          <a:xfrm>
            <a:off x="5577840" y="1170432"/>
            <a:ext cx="29718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 and 20% discount: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 stays near $617.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5440680" y="1984248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g3_t"/>
          <p:cNvSpPr txBox="1"/>
          <p:nvPr/>
        </p:nvSpPr>
        <p:spPr>
          <a:xfrm>
            <a:off x="5577840" y="2011680"/>
            <a:ext cx="29718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30% and above: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discount level loses money.</a:t>
            </a:r>
            <a:endParaRPr lang="en-US" sz="1400" dirty="0"/>
          </a:p>
        </p:txBody>
      </p:sp>
      <p:sp>
        <p:nvSpPr>
          <p:cNvPr id="9" name="g4_bg"/>
          <p:cNvSpPr/>
          <p:nvPr/>
        </p:nvSpPr>
        <p:spPr>
          <a:xfrm>
            <a:off x="5440680" y="2825496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g4_t"/>
          <p:cNvSpPr txBox="1"/>
          <p:nvPr/>
        </p:nvSpPr>
        <p:spPr>
          <a:xfrm>
            <a:off x="5577840" y="2852928"/>
            <a:ext cx="29718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 discount: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largest loss, $1,665.05.</a:t>
            </a:r>
            <a:endParaRPr lang="en-US" sz="1400" dirty="0"/>
          </a:p>
        </p:txBody>
      </p:sp>
      <p:sp>
        <p:nvSpPr>
          <p:cNvPr id="11" name="g5_ban"/>
          <p:cNvSpPr/>
          <p:nvPr/>
        </p:nvSpPr>
        <p:spPr>
          <a:xfrm>
            <a:off x="5440680" y="3703320"/>
            <a:ext cx="3246120" cy="960120"/>
          </a:xfrm>
          <a:prstGeom prst="roundRect">
            <a:avLst>
              <a:gd name="adj" fmla="val 95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g5_bt"/>
          <p:cNvSpPr txBox="1"/>
          <p:nvPr/>
        </p:nvSpPr>
        <p:spPr>
          <a:xfrm>
            <a:off x="5577840" y="3749040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Higher discounts cut revenue and profit. Keep discounts near 20% or lower.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Discount chart: the numbers</a:t>
            </a:r>
            <a:endParaRPr lang="en-US" sz="3400" dirty="0"/>
          </a:p>
        </p:txBody>
      </p:sp>
      <p:graphicFrame>
        <p:nvGraphicFramePr>
          <p:cNvPr id="11" name="g1_table"/>
          <p:cNvGraphicFramePr>
            <a:graphicFrameLocks noGrp="1"/>
          </p:cNvGraphicFramePr>
          <p:nvPr/>
        </p:nvGraphicFramePr>
        <p:xfrm>
          <a:off x="457200" y="1143000"/>
          <a:ext cx="4023360" cy="32918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Discount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Profit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Result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$617.55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Profit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20%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$617.05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Profit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30%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−$16.17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32%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−$46.98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45%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−$383.03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50%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−$1,665.05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60%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−$147.96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70%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−$12.77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80%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−$127.67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709160" y="114300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g2_v"/>
          <p:cNvSpPr txBox="1"/>
          <p:nvPr/>
        </p:nvSpPr>
        <p:spPr>
          <a:xfrm>
            <a:off x="4892040" y="1216152"/>
            <a:ext cx="3611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$1,234.60</a:t>
            </a:r>
            <a:endParaRPr lang="en-US" sz="2400" dirty="0"/>
          </a:p>
        </p:txBody>
      </p:sp>
      <p:sp>
        <p:nvSpPr>
          <p:cNvPr id="6" name="g2_d"/>
          <p:cNvSpPr txBox="1"/>
          <p:nvPr/>
        </p:nvSpPr>
        <p:spPr>
          <a:xfrm>
            <a:off x="4892040" y="1673352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earned at 0% and 20% discounts combined.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4709160" y="233172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g3_v"/>
          <p:cNvSpPr txBox="1"/>
          <p:nvPr/>
        </p:nvSpPr>
        <p:spPr>
          <a:xfrm>
            <a:off x="4892040" y="2404872"/>
            <a:ext cx="3611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−$2,399.63</a:t>
            </a:r>
            <a:endParaRPr lang="en-US" sz="2400" dirty="0"/>
          </a:p>
        </p:txBody>
      </p:sp>
      <p:sp>
        <p:nvSpPr>
          <p:cNvPr id="9" name="g3_d"/>
          <p:cNvSpPr txBox="1"/>
          <p:nvPr/>
        </p:nvSpPr>
        <p:spPr>
          <a:xfrm>
            <a:off x="4892040" y="2862072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lost across all seven discount levels of 30% and above.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4709160" y="352044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" name="g4_v"/>
          <p:cNvSpPr txBox="1"/>
          <p:nvPr/>
        </p:nvSpPr>
        <p:spPr>
          <a:xfrm>
            <a:off x="4892040" y="3593592"/>
            <a:ext cx="3611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69%</a:t>
            </a:r>
            <a:endParaRPr lang="en-US" sz="2400" dirty="0"/>
          </a:p>
        </p:txBody>
      </p:sp>
      <p:sp>
        <p:nvSpPr>
          <p:cNvPr id="12" name="g4_d"/>
          <p:cNvSpPr txBox="1"/>
          <p:nvPr/>
        </p:nvSpPr>
        <p:spPr>
          <a:xfrm>
            <a:off x="4892040" y="4050792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 those losses come from the 50% discount alone ($1,665.05).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g1_bg"/>
          <p:cNvSpPr/>
          <p:nvPr/>
        </p:nvSpPr>
        <p:spPr>
          <a:xfrm>
            <a:off x="548640" y="18288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g1_h"/>
          <p:cNvSpPr txBox="1"/>
          <p:nvPr/>
        </p:nvSpPr>
        <p:spPr>
          <a:xfrm>
            <a:off x="777240" y="193852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Technology</a:t>
            </a:r>
            <a:endParaRPr lang="en-US" sz="2200" dirty="0"/>
          </a:p>
        </p:txBody>
      </p:sp>
      <p:sp>
        <p:nvSpPr>
          <p:cNvPr id="5" name="g1_d"/>
          <p:cNvSpPr txBox="1"/>
          <p:nvPr/>
        </p:nvSpPr>
        <p:spPr>
          <a:xfrm>
            <a:off x="777240" y="2359152"/>
            <a:ext cx="347472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 the most profitable category; Furniture sells most but loses money.</a:t>
            </a:r>
            <a:endParaRPr lang="en-US" sz="1600" dirty="0"/>
          </a:p>
        </p:txBody>
      </p:sp>
      <p:sp>
        <p:nvSpPr>
          <p:cNvPr id="6" name="g2_bg"/>
          <p:cNvSpPr/>
          <p:nvPr/>
        </p:nvSpPr>
        <p:spPr>
          <a:xfrm>
            <a:off x="4663440" y="18288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g2_h"/>
          <p:cNvSpPr txBox="1"/>
          <p:nvPr/>
        </p:nvSpPr>
        <p:spPr>
          <a:xfrm>
            <a:off x="4892040" y="193852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Second Class</a:t>
            </a:r>
            <a:endParaRPr lang="en-US" sz="2200" dirty="0"/>
          </a:p>
        </p:txBody>
      </p:sp>
      <p:sp>
        <p:nvSpPr>
          <p:cNvPr id="8" name="g2_d"/>
          <p:cNvSpPr txBox="1"/>
          <p:nvPr/>
        </p:nvSpPr>
        <p:spPr>
          <a:xfrm>
            <a:off x="4892040" y="2359152"/>
            <a:ext cx="347472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 the only profitable ship mode.</a:t>
            </a:r>
            <a:endParaRPr lang="en-US" sz="1600" dirty="0"/>
          </a:p>
        </p:txBody>
      </p:sp>
      <p:sp>
        <p:nvSpPr>
          <p:cNvPr id="9" name="g3_bg"/>
          <p:cNvSpPr/>
          <p:nvPr/>
        </p:nvSpPr>
        <p:spPr>
          <a:xfrm>
            <a:off x="548640" y="32004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g3_h"/>
          <p:cNvSpPr txBox="1"/>
          <p:nvPr/>
        </p:nvSpPr>
        <p:spPr>
          <a:xfrm>
            <a:off x="777240" y="331012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California</a:t>
            </a:r>
            <a:endParaRPr lang="en-US" sz="2200" dirty="0"/>
          </a:p>
        </p:txBody>
      </p:sp>
      <p:sp>
        <p:nvSpPr>
          <p:cNvPr id="11" name="g3_d"/>
          <p:cNvSpPr txBox="1"/>
          <p:nvPr/>
        </p:nvSpPr>
        <p:spPr>
          <a:xfrm>
            <a:off x="777240" y="3730752"/>
            <a:ext cx="347472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has the highest profit among the states shown.</a:t>
            </a:r>
            <a:endParaRPr lang="en-US" sz="1600" dirty="0"/>
          </a:p>
        </p:txBody>
      </p:sp>
      <p:sp>
        <p:nvSpPr>
          <p:cNvPr id="12" name="g4_bg"/>
          <p:cNvSpPr/>
          <p:nvPr/>
        </p:nvSpPr>
        <p:spPr>
          <a:xfrm>
            <a:off x="4663440" y="32004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g4_h"/>
          <p:cNvSpPr txBox="1"/>
          <p:nvPr/>
        </p:nvSpPr>
        <p:spPr>
          <a:xfrm>
            <a:off x="4892040" y="331012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Discounts</a:t>
            </a:r>
            <a:endParaRPr lang="en-US" sz="2200" dirty="0"/>
          </a:p>
        </p:txBody>
      </p:sp>
      <p:sp>
        <p:nvSpPr>
          <p:cNvPr id="14" name="g4_d"/>
          <p:cNvSpPr txBox="1"/>
          <p:nvPr/>
        </p:nvSpPr>
        <p:spPr>
          <a:xfrm>
            <a:off x="4892040" y="3730752"/>
            <a:ext cx="347472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 30% and above lose money; keep them near 20% or lower.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ofit Analysis">
  <a:themeElements>
    <a:clrScheme name="Profit Analysis">
      <a:dk1>
        <a:srgbClr val="10222B"/>
      </a:dk1>
      <a:lt1>
        <a:srgbClr val="FFFFFF"/>
      </a:lt1>
      <a:dk2>
        <a:srgbClr val="0F4C4A"/>
      </a:dk2>
      <a:lt2>
        <a:srgbClr val="EAF2F1"/>
      </a:lt2>
      <a:accent1>
        <a:srgbClr val="0F766E"/>
      </a:accent1>
      <a:accent2>
        <a:srgbClr val="F59E0B"/>
      </a:accent2>
      <a:accent3>
        <a:srgbClr val="DC2626"/>
      </a:accent3>
      <a:accent4>
        <a:srgbClr val="16A34A"/>
      </a:accent4>
      <a:accent5>
        <a:srgbClr val="64748B"/>
      </a:accent5>
      <a:accent6>
        <a:srgbClr val="0EA5E9"/>
      </a:accent6>
      <a:hlink>
        <a:srgbClr val="0F766E"/>
      </a:hlink>
      <a:folHlink>
        <a:srgbClr val="64748B"/>
      </a:folHlink>
    </a:clrScheme>
    <a:fontScheme name="Profit Analys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689</Words>
  <Application>Microsoft Office PowerPoint</Application>
  <PresentationFormat>On-screen Show (16:9)</PresentationFormat>
  <Paragraphs>161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Profit Analysis</vt:lpstr>
      <vt:lpstr>Data Analysis Project Report</vt:lpstr>
      <vt:lpstr>Sales vs profit by category</vt:lpstr>
      <vt:lpstr>Profit by category</vt:lpstr>
      <vt:lpstr>Profit by ship mode</vt:lpstr>
      <vt:lpstr>Ship mode chart</vt:lpstr>
      <vt:lpstr>Which states are most profitable?</vt:lpstr>
      <vt:lpstr>Reading the state map</vt:lpstr>
      <vt:lpstr>How does discount affect profit?</vt:lpstr>
      <vt:lpstr>Discount chart: the numbers</vt:lpstr>
      <vt:lpstr>Key takeaways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Project Report</dc:title>
  <dc:subject>PptxGenJS Presentation</dc:subject>
  <dc:creator>PptxGenJS</dc:creator>
  <cp:lastModifiedBy>fahimyadgir07@gmail.com</cp:lastModifiedBy>
  <cp:revision>6</cp:revision>
  <dcterms:created xsi:type="dcterms:W3CDTF">2026-10-16T18:57:00Z</dcterms:created>
  <dcterms:modified xsi:type="dcterms:W3CDTF">2026-10-17T20:44:43Z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FC81DAC2528E4BE3991D3C586DB96A8B_12</vt:lpwstr>
  </property>
  <property fmtid="{D5CDD505-2E9C-101B-9397-08002B2CF9AE}" pid="3" name="KSOProductBuildVer">
    <vt:lpwstr>1033-12.1.0.29162</vt:lpwstr>
  </property>
</Properties>
</file>